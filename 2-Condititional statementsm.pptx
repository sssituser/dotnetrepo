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EA219-A6D1-4967-A028-6FA86F4FB751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DE235-0FD2-473A-9C59-98BCDF187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254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03B8D-2D55-4EBD-B997-7F5A4513759A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03B8D-2D55-4EBD-B997-7F5A4513759A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54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just">
              <a:defRPr sz="2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4983163"/>
          </a:xfrm>
        </p:spPr>
        <p:txBody>
          <a:bodyPr/>
          <a:lstStyle>
            <a:lvl1pPr algn="just">
              <a:defRPr sz="2200">
                <a:latin typeface="+mj-lt"/>
              </a:defRPr>
            </a:lvl1pPr>
            <a:lvl2pPr algn="just">
              <a:defRPr sz="1900">
                <a:latin typeface="+mj-lt"/>
              </a:defRPr>
            </a:lvl2pPr>
            <a:lvl3pPr algn="just">
              <a:defRPr sz="1700">
                <a:latin typeface="+mj-lt"/>
              </a:defRPr>
            </a:lvl3pPr>
            <a:lvl4pPr algn="just">
              <a:defRPr sz="1500">
                <a:latin typeface="+mj-lt"/>
              </a:defRPr>
            </a:lvl4pPr>
            <a:lvl5pPr algn="just"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EFEB6-7BA6-4F2B-9B9D-14D43BD07850}" type="datetimeFigureOut">
              <a:rPr lang="en-US" smtClean="0"/>
              <a:pPr>
                <a:defRPr/>
              </a:pPr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9E872B-1A9B-4D0A-853A-1D6A4FAB74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2994D-35D0-4861-9A49-613C6D4340DD}" type="datetimeFigureOut">
              <a:rPr lang="en-US" smtClean="0"/>
              <a:pPr>
                <a:defRPr/>
              </a:pPr>
              <a:t>11/6/2025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ED12A-BAB7-4F94-9574-382F8AE3E01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1524C-425E-482F-A0C6-1D76C45B4FF5}" type="datetimeFigureOut">
              <a:rPr lang="en-US" smtClean="0"/>
              <a:pPr>
                <a:defRPr/>
              </a:pPr>
              <a:t>11/6/2025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1C0AA5-F908-4823-8DF7-4923D4CE7F3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5CC0-68E8-4EEB-8B01-BF6F58B971F8}" type="datetimeFigureOut">
              <a:rPr lang="en-US" smtClean="0"/>
              <a:pPr>
                <a:defRPr/>
              </a:pPr>
              <a:t>11/6/2025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F21E9-F300-4875-BADA-B5D945E31F0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C77F36-AB49-459D-A641-2CCD96CA385E}" type="datetimeFigureOut">
              <a:rPr lang="en-US" smtClean="0"/>
              <a:pPr>
                <a:defRPr/>
              </a:pPr>
              <a:t>11/6/2025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761CC-5A3C-4B53-A536-8DCD3AB805E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D0221-BA04-451B-8652-31EDBB1F7977}" type="datetimeFigureOut">
              <a:rPr lang="en-US" smtClean="0"/>
              <a:pPr>
                <a:defRPr/>
              </a:pPr>
              <a:t>11/6/2025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97BCD-A57E-4BC0-A3CB-80F23297A25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31AD1-4995-42FD-9F39-F14A606CC550}" type="datetimeFigureOut">
              <a:rPr lang="en-US" smtClean="0"/>
              <a:pPr>
                <a:defRPr/>
              </a:pPr>
              <a:t>11/6/2025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DEAF33-F282-4978-A46B-DA4627C6E9D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66F96-314E-4655-89E2-BB42E000598E}" type="datetimeFigureOut">
              <a:rPr lang="en-US" smtClean="0"/>
              <a:pPr>
                <a:defRPr/>
              </a:pPr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B306B-2C4E-4309-926F-0EFDBA723E6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41DFD-6FA9-47B6-844C-44A8DE5A5A89}" type="datetimeFigureOut">
              <a:rPr lang="en-US" smtClean="0"/>
              <a:pPr>
                <a:defRPr/>
              </a:pPr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EA591-BB09-4397-80C4-4E3A4529A4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1447298-B64A-4B1E-AB8A-C385224337E5}" type="datetimeFigureOut">
              <a:rPr lang="en-US" smtClean="0"/>
              <a:pPr>
                <a:defRPr/>
              </a:pPr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Trapezoid 6"/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rapezoid 7"/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3" name="Trapezoid 12"/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Trapezoid 13"/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43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0"/>
            <a:ext cx="6096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143000"/>
            <a:ext cx="8229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rapezoid 9"/>
          <p:cNvSpPr/>
          <p:nvPr userDrawn="1"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Trapezoid 10"/>
          <p:cNvSpPr/>
          <p:nvPr userDrawn="1"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2" name="Trapezoid 11"/>
          <p:cNvSpPr/>
          <p:nvPr userDrawn="1"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Trapezoid 14"/>
          <p:cNvSpPr/>
          <p:nvPr userDrawn="1"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 kern="1200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9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16175"/>
            <a:ext cx="7772400" cy="1470025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0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Conditional statements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Decision Making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Simple if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If else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Nested if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Else if ladder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Switch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goto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simple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if(con)</a:t>
            </a:r>
          </a:p>
          <a:p>
            <a:pPr>
              <a:buNone/>
            </a:pPr>
            <a:r>
              <a:rPr lang="en-US" sz="2400" dirty="0"/>
              <a:t>	{</a:t>
            </a:r>
          </a:p>
          <a:p>
            <a:pPr>
              <a:buNone/>
            </a:pPr>
            <a:r>
              <a:rPr lang="en-US" sz="2400" dirty="0"/>
              <a:t>	   stmts;</a:t>
            </a:r>
          </a:p>
          <a:p>
            <a:pPr>
              <a:buNone/>
            </a:pPr>
            <a:r>
              <a:rPr lang="en-US" sz="2400" dirty="0"/>
              <a:t>	}</a:t>
            </a:r>
          </a:p>
          <a:p>
            <a:pPr>
              <a:buNone/>
            </a:pPr>
            <a:r>
              <a:rPr lang="en-US" sz="2400" dirty="0"/>
              <a:t>			</a:t>
            </a:r>
          </a:p>
          <a:p>
            <a:pPr>
              <a:buNone/>
            </a:pPr>
            <a:r>
              <a:rPr lang="en-US" sz="2400" dirty="0"/>
              <a:t>con---&gt;True---&gt;compiler executes stmts</a:t>
            </a:r>
          </a:p>
          <a:p>
            <a:pPr>
              <a:buNone/>
            </a:pPr>
            <a:r>
              <a:rPr lang="en-US" sz="2400" dirty="0"/>
              <a:t>con---&gt;False--&gt;compiler doesn't execute </a:t>
            </a:r>
            <a:r>
              <a:rPr lang="en-US" sz="2800" dirty="0"/>
              <a:t>the stmts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simple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928" y="13716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/>
              <a:t>static void Main(string[] args)</a:t>
            </a:r>
          </a:p>
          <a:p>
            <a:pPr>
              <a:buNone/>
            </a:pPr>
            <a:r>
              <a:rPr lang="en-US" sz="2200" dirty="0"/>
              <a:t>        {</a:t>
            </a:r>
          </a:p>
          <a:p>
            <a:pPr>
              <a:buNone/>
            </a:pPr>
            <a:r>
              <a:rPr lang="en-US" sz="2200" dirty="0"/>
              <a:t>            int mark = 10;</a:t>
            </a:r>
          </a:p>
          <a:p>
            <a:pPr>
              <a:buNone/>
            </a:pPr>
            <a:r>
              <a:rPr lang="en-US" sz="2200" dirty="0"/>
              <a:t>            if (mark &lt; 35)</a:t>
            </a:r>
          </a:p>
          <a:p>
            <a:pPr>
              <a:buNone/>
            </a:pPr>
            <a:r>
              <a:rPr lang="en-US" sz="2200" dirty="0"/>
              <a:t>            {</a:t>
            </a:r>
          </a:p>
          <a:p>
            <a:pPr>
              <a:buNone/>
            </a:pPr>
            <a:r>
              <a:rPr lang="en-US" sz="2200" dirty="0"/>
              <a:t>                Console.WriteLine ("Fail");</a:t>
            </a:r>
          </a:p>
          <a:p>
            <a:pPr>
              <a:buNone/>
            </a:pPr>
            <a:r>
              <a:rPr lang="en-US" sz="2200" dirty="0"/>
              <a:t>            }</a:t>
            </a:r>
          </a:p>
          <a:p>
            <a:pPr>
              <a:buNone/>
            </a:pPr>
            <a:r>
              <a:rPr lang="en-US" sz="2200" dirty="0"/>
              <a:t>        }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2209800"/>
            <a:ext cx="12954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819400" y="2819400"/>
            <a:ext cx="1219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91000" y="26670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 &lt; 35 </a:t>
            </a:r>
            <a:r>
              <a:rPr lang="en-US" b="1" dirty="0">
                <a:sym typeface="Wingdings" pitchFamily="2" charset="2"/>
              </a:rPr>
              <a:t>True</a:t>
            </a:r>
            <a:endParaRPr lang="en-US" b="1" dirty="0"/>
          </a:p>
        </p:txBody>
      </p:sp>
      <p:sp>
        <p:nvSpPr>
          <p:cNvPr id="13" name="Rectangle 12"/>
          <p:cNvSpPr/>
          <p:nvPr/>
        </p:nvSpPr>
        <p:spPr>
          <a:xfrm>
            <a:off x="1447800" y="3429000"/>
            <a:ext cx="33528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simple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928" y="13716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/>
              <a:t>static void Main(string[] args)</a:t>
            </a:r>
          </a:p>
          <a:p>
            <a:pPr>
              <a:buNone/>
            </a:pPr>
            <a:r>
              <a:rPr lang="en-US" sz="2200" dirty="0"/>
              <a:t>        {</a:t>
            </a:r>
          </a:p>
          <a:p>
            <a:pPr>
              <a:buNone/>
            </a:pPr>
            <a:r>
              <a:rPr lang="en-US" sz="2200" dirty="0"/>
              <a:t>            int mark = 40;</a:t>
            </a:r>
          </a:p>
          <a:p>
            <a:pPr>
              <a:buNone/>
            </a:pPr>
            <a:r>
              <a:rPr lang="en-US" sz="2200" dirty="0"/>
              <a:t>            if (mark &lt; 35)</a:t>
            </a:r>
          </a:p>
          <a:p>
            <a:pPr>
              <a:buNone/>
            </a:pPr>
            <a:r>
              <a:rPr lang="en-US" sz="2200" dirty="0"/>
              <a:t>            {</a:t>
            </a:r>
          </a:p>
          <a:p>
            <a:pPr>
              <a:buNone/>
            </a:pPr>
            <a:r>
              <a:rPr lang="en-US" sz="2200" dirty="0"/>
              <a:t>                Console.WriteLine ("Fail");</a:t>
            </a:r>
          </a:p>
          <a:p>
            <a:pPr>
              <a:buNone/>
            </a:pPr>
            <a:r>
              <a:rPr lang="en-US" sz="2200" dirty="0"/>
              <a:t>            }</a:t>
            </a:r>
          </a:p>
          <a:p>
            <a:pPr>
              <a:buNone/>
            </a:pPr>
            <a:r>
              <a:rPr lang="en-US" sz="2200" dirty="0"/>
              <a:t>        }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2209800"/>
            <a:ext cx="12954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819400" y="2819400"/>
            <a:ext cx="1219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91000" y="26670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40 &lt; 35 </a:t>
            </a:r>
            <a:r>
              <a:rPr lang="en-US" b="1" dirty="0">
                <a:sym typeface="Wingdings" pitchFamily="2" charset="2"/>
              </a:rPr>
              <a:t>False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5943600" y="2667000"/>
            <a:ext cx="23622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NO Out  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If –else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dirty="0"/>
              <a:t>		if(con)</a:t>
            </a:r>
          </a:p>
          <a:p>
            <a:pPr>
              <a:buNone/>
            </a:pPr>
            <a:r>
              <a:rPr lang="en-US" sz="2200" dirty="0"/>
              <a:t>		{</a:t>
            </a:r>
          </a:p>
          <a:p>
            <a:pPr>
              <a:buNone/>
            </a:pPr>
            <a:r>
              <a:rPr lang="en-US" sz="2200" dirty="0"/>
              <a:t>			stmts1</a:t>
            </a:r>
          </a:p>
          <a:p>
            <a:pPr>
              <a:buNone/>
            </a:pPr>
            <a:r>
              <a:rPr lang="en-US" sz="2200" dirty="0"/>
              <a:t>		}else{</a:t>
            </a:r>
          </a:p>
          <a:p>
            <a:pPr>
              <a:buNone/>
            </a:pPr>
            <a:r>
              <a:rPr lang="en-US" sz="2200" dirty="0"/>
              <a:t>			   smts2;</a:t>
            </a:r>
          </a:p>
          <a:p>
            <a:pPr>
              <a:buNone/>
            </a:pPr>
            <a:r>
              <a:rPr lang="en-US" sz="2200" dirty="0"/>
              <a:t>		}</a:t>
            </a:r>
          </a:p>
          <a:p>
            <a:pPr>
              <a:buNone/>
            </a:pPr>
            <a:endParaRPr lang="en-US" sz="2200" dirty="0"/>
          </a:p>
          <a:p>
            <a:pPr>
              <a:buNone/>
            </a:pPr>
            <a:r>
              <a:rPr lang="en-US" sz="2200" dirty="0"/>
              <a:t>con---&gt;True---&gt;stmts1 can be executed</a:t>
            </a:r>
          </a:p>
          <a:p>
            <a:pPr>
              <a:buNone/>
            </a:pPr>
            <a:r>
              <a:rPr lang="en-US" sz="2200" dirty="0"/>
              <a:t>con---&gt;False---&gt;stmts2 can be executed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If –else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dirty="0">
                <a:solidFill>
                  <a:srgbClr val="0070C0"/>
                </a:solidFill>
              </a:rPr>
              <a:t>static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70C0"/>
                </a:solidFill>
              </a:rPr>
              <a:t>void</a:t>
            </a:r>
            <a:r>
              <a:rPr lang="en-US" sz="2200" dirty="0"/>
              <a:t> Main(string[] args)</a:t>
            </a:r>
          </a:p>
          <a:p>
            <a:pPr>
              <a:buNone/>
            </a:pPr>
            <a:r>
              <a:rPr lang="en-US" sz="2200" dirty="0"/>
              <a:t>        {</a:t>
            </a:r>
          </a:p>
          <a:p>
            <a:pPr>
              <a:buNone/>
            </a:pPr>
            <a:r>
              <a:rPr lang="en-US" sz="2200" dirty="0"/>
              <a:t>            int mark = 20;</a:t>
            </a:r>
          </a:p>
          <a:p>
            <a:pPr>
              <a:buNone/>
            </a:pPr>
            <a:r>
              <a:rPr lang="en-US" sz="2200" dirty="0"/>
              <a:t>            if (mark &lt; 35)</a:t>
            </a:r>
          </a:p>
          <a:p>
            <a:pPr>
              <a:buNone/>
            </a:pPr>
            <a:r>
              <a:rPr lang="en-US" sz="2200" dirty="0"/>
              <a:t>            {</a:t>
            </a:r>
          </a:p>
          <a:p>
            <a:pPr>
              <a:buNone/>
            </a:pPr>
            <a:r>
              <a:rPr lang="en-US" sz="2200" dirty="0"/>
              <a:t>                Console.WriteLine("Fail");</a:t>
            </a:r>
          </a:p>
          <a:p>
            <a:pPr>
              <a:buNone/>
            </a:pPr>
            <a:r>
              <a:rPr lang="en-US" sz="2200" dirty="0"/>
              <a:t>            }</a:t>
            </a:r>
          </a:p>
          <a:p>
            <a:pPr>
              <a:buNone/>
            </a:pPr>
            <a:r>
              <a:rPr lang="en-US" sz="2200" dirty="0"/>
              <a:t>            else</a:t>
            </a:r>
          </a:p>
          <a:p>
            <a:pPr>
              <a:buNone/>
            </a:pPr>
            <a:r>
              <a:rPr lang="en-US" sz="2200" dirty="0"/>
              <a:t>            {</a:t>
            </a:r>
          </a:p>
          <a:p>
            <a:pPr>
              <a:buNone/>
            </a:pPr>
            <a:r>
              <a:rPr lang="en-US" sz="2200" dirty="0"/>
              <a:t>                Console.WriteLine("Pass");</a:t>
            </a:r>
          </a:p>
          <a:p>
            <a:pPr>
              <a:buNone/>
            </a:pPr>
            <a:r>
              <a:rPr lang="en-US" sz="2200" dirty="0"/>
              <a:t>            }</a:t>
            </a:r>
          </a:p>
          <a:p>
            <a:pPr>
              <a:buNone/>
            </a:pPr>
            <a:r>
              <a:rPr lang="en-US" sz="2200" dirty="0"/>
              <a:t>       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If – else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dirty="0">
                <a:solidFill>
                  <a:srgbClr val="0070C0"/>
                </a:solidFill>
              </a:rPr>
              <a:t>static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70C0"/>
                </a:solidFill>
              </a:rPr>
              <a:t>void</a:t>
            </a:r>
            <a:r>
              <a:rPr lang="en-US" sz="2200" dirty="0"/>
              <a:t> Main(string[] args)</a:t>
            </a:r>
          </a:p>
          <a:p>
            <a:pPr>
              <a:buNone/>
            </a:pPr>
            <a:r>
              <a:rPr lang="en-US" sz="2200" dirty="0"/>
              <a:t>        {</a:t>
            </a:r>
          </a:p>
          <a:p>
            <a:pPr>
              <a:buNone/>
            </a:pPr>
            <a:r>
              <a:rPr lang="en-US" sz="2200" dirty="0"/>
              <a:t>            int mark = 40;</a:t>
            </a:r>
          </a:p>
          <a:p>
            <a:pPr>
              <a:buNone/>
            </a:pPr>
            <a:r>
              <a:rPr lang="en-US" sz="2200" dirty="0"/>
              <a:t>            if (mark &lt; 35)</a:t>
            </a:r>
          </a:p>
          <a:p>
            <a:pPr>
              <a:buNone/>
            </a:pPr>
            <a:r>
              <a:rPr lang="en-US" sz="2200" dirty="0"/>
              <a:t>            {</a:t>
            </a:r>
          </a:p>
          <a:p>
            <a:pPr>
              <a:buNone/>
            </a:pPr>
            <a:r>
              <a:rPr lang="en-US" sz="2200" dirty="0"/>
              <a:t>                Console.WriteLine("Fail");</a:t>
            </a:r>
          </a:p>
          <a:p>
            <a:pPr>
              <a:buNone/>
            </a:pPr>
            <a:r>
              <a:rPr lang="en-US" sz="2200" dirty="0"/>
              <a:t>            }</a:t>
            </a:r>
          </a:p>
          <a:p>
            <a:pPr>
              <a:buNone/>
            </a:pPr>
            <a:r>
              <a:rPr lang="en-US" sz="2200" dirty="0"/>
              <a:t>            else</a:t>
            </a:r>
          </a:p>
          <a:p>
            <a:pPr>
              <a:buNone/>
            </a:pPr>
            <a:r>
              <a:rPr lang="en-US" sz="2200" dirty="0"/>
              <a:t>            {</a:t>
            </a:r>
          </a:p>
          <a:p>
            <a:pPr>
              <a:buNone/>
            </a:pPr>
            <a:r>
              <a:rPr lang="en-US" sz="2200" dirty="0"/>
              <a:t>                Console.WriteLine("Pass");</a:t>
            </a:r>
          </a:p>
          <a:p>
            <a:pPr>
              <a:buNone/>
            </a:pPr>
            <a:r>
              <a:rPr lang="en-US" sz="2200" dirty="0"/>
              <a:t>            }</a:t>
            </a:r>
          </a:p>
          <a:p>
            <a:pPr>
              <a:buNone/>
            </a:pPr>
            <a:r>
              <a:rPr lang="en-US" sz="2200" dirty="0"/>
              <a:t>       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Nested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0"/>
            <a:ext cx="82296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dirty="0"/>
              <a:t>	   </a:t>
            </a:r>
          </a:p>
          <a:p>
            <a:pPr>
              <a:buNone/>
            </a:pPr>
            <a:r>
              <a:rPr lang="en-US" sz="2200" dirty="0"/>
              <a:t>  if(con1){</a:t>
            </a:r>
          </a:p>
          <a:p>
            <a:pPr>
              <a:buNone/>
            </a:pPr>
            <a:r>
              <a:rPr lang="en-US" sz="2200" dirty="0"/>
              <a:t>		                if(con2){</a:t>
            </a:r>
          </a:p>
          <a:p>
            <a:pPr>
              <a:buNone/>
            </a:pPr>
            <a:r>
              <a:rPr lang="en-US" sz="2200" dirty="0"/>
              <a:t>			   	 stmts1;</a:t>
            </a:r>
          </a:p>
          <a:p>
            <a:pPr>
              <a:buNone/>
            </a:pPr>
            <a:r>
              <a:rPr lang="en-US" sz="2200" dirty="0"/>
              <a:t>			}    else   {</a:t>
            </a:r>
          </a:p>
          <a:p>
            <a:pPr>
              <a:buNone/>
            </a:pPr>
            <a:r>
              <a:rPr lang="en-US" sz="2200" dirty="0"/>
              <a:t>			   	stmts2;</a:t>
            </a:r>
          </a:p>
          <a:p>
            <a:pPr>
              <a:buNone/>
            </a:pPr>
            <a:r>
              <a:rPr lang="en-US" sz="2200" dirty="0"/>
              <a:t>			}</a:t>
            </a:r>
          </a:p>
          <a:p>
            <a:pPr>
              <a:buNone/>
            </a:pPr>
            <a:r>
              <a:rPr lang="en-US" sz="2200" dirty="0"/>
              <a:t>		}  else   {</a:t>
            </a:r>
          </a:p>
          <a:p>
            <a:pPr>
              <a:buNone/>
            </a:pPr>
            <a:r>
              <a:rPr lang="en-US" sz="2200" dirty="0"/>
              <a:t>			stmts3;</a:t>
            </a:r>
          </a:p>
          <a:p>
            <a:pPr>
              <a:buNone/>
            </a:pPr>
            <a:r>
              <a:rPr lang="en-US" sz="2200" dirty="0"/>
              <a:t>		}</a:t>
            </a:r>
          </a:p>
          <a:p>
            <a:pPr>
              <a:buNone/>
            </a:pPr>
            <a:r>
              <a:rPr lang="en-US" sz="2200" dirty="0"/>
              <a:t>con1---&gt;True----&gt;con2---&gt;True---&gt; compiler executes stmts1</a:t>
            </a:r>
          </a:p>
          <a:p>
            <a:pPr>
              <a:buNone/>
            </a:pPr>
            <a:r>
              <a:rPr lang="en-US" sz="2200" dirty="0"/>
              <a:t>con1---&gt;True----&gt;con2----&gt;False---&gt;compiler executes stmts2</a:t>
            </a:r>
          </a:p>
          <a:p>
            <a:pPr>
              <a:buNone/>
            </a:pPr>
            <a:r>
              <a:rPr lang="en-US" sz="2200" dirty="0"/>
              <a:t>con1---&gt;false---&gt;compiler executes stmt3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Nested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static</a:t>
            </a:r>
            <a:r>
              <a:rPr lang="en-US" sz="2000" b="1" dirty="0">
                <a:solidFill>
                  <a:srgbClr val="080808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void</a:t>
            </a:r>
            <a:r>
              <a:rPr lang="en-US" sz="2000" b="1" dirty="0">
                <a:solidFill>
                  <a:srgbClr val="080808"/>
                </a:solidFill>
              </a:rPr>
              <a:t> Main(string[] args)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{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int temp = 38;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	     if (temp &gt; 20){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    if (temp &gt; 40){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        Console.WriteLine("Very Hot....\n");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    }else {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        Console.WriteLine("Hot...\n");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    }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} else {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    Console.WriteLine("Cool....");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}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Else if ladder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/>
              <a:t>	if(con1){</a:t>
            </a:r>
          </a:p>
          <a:p>
            <a:pPr>
              <a:buNone/>
            </a:pPr>
            <a:r>
              <a:rPr lang="en-US" sz="2000" b="1" dirty="0"/>
              <a:t>			stmts1;</a:t>
            </a:r>
          </a:p>
          <a:p>
            <a:pPr>
              <a:buNone/>
            </a:pPr>
            <a:r>
              <a:rPr lang="en-US" sz="2000" b="1" dirty="0"/>
              <a:t>	}else if(con2){</a:t>
            </a:r>
          </a:p>
          <a:p>
            <a:pPr>
              <a:buNone/>
            </a:pPr>
            <a:r>
              <a:rPr lang="en-US" sz="2000" b="1" dirty="0"/>
              <a:t>			stmts2</a:t>
            </a:r>
          </a:p>
          <a:p>
            <a:pPr>
              <a:buNone/>
            </a:pPr>
            <a:r>
              <a:rPr lang="en-US" sz="2000" b="1" dirty="0"/>
              <a:t>	}else if(con3){</a:t>
            </a:r>
          </a:p>
          <a:p>
            <a:pPr>
              <a:buNone/>
            </a:pPr>
            <a:r>
              <a:rPr lang="en-US" sz="2000" b="1" dirty="0"/>
              <a:t>			stmts3</a:t>
            </a:r>
          </a:p>
          <a:p>
            <a:pPr>
              <a:buNone/>
            </a:pPr>
            <a:r>
              <a:rPr lang="en-US" sz="2000" b="1" dirty="0"/>
              <a:t>	}else</a:t>
            </a:r>
          </a:p>
          <a:p>
            <a:pPr>
              <a:buNone/>
            </a:pPr>
            <a:r>
              <a:rPr lang="en-US" sz="2000" b="1" dirty="0"/>
              <a:t>       .</a:t>
            </a:r>
          </a:p>
          <a:p>
            <a:pPr>
              <a:buNone/>
            </a:pPr>
            <a:r>
              <a:rPr lang="en-US" sz="2000" b="1" dirty="0"/>
              <a:t>	if(conn){</a:t>
            </a:r>
          </a:p>
          <a:p>
            <a:pPr>
              <a:buNone/>
            </a:pPr>
            <a:r>
              <a:rPr lang="en-US" sz="2000" b="1" dirty="0"/>
              <a:t>			stmtsn;</a:t>
            </a:r>
          </a:p>
          <a:p>
            <a:pPr>
              <a:buNone/>
            </a:pPr>
            <a:r>
              <a:rPr lang="en-US" sz="2000" b="1" dirty="0"/>
              <a:t>	}else{</a:t>
            </a:r>
          </a:p>
          <a:p>
            <a:pPr>
              <a:buNone/>
            </a:pPr>
            <a:r>
              <a:rPr lang="en-US" sz="2000" b="1" dirty="0"/>
              <a:t>	  		stmts</a:t>
            </a:r>
          </a:p>
          <a:p>
            <a:pPr>
              <a:buNone/>
            </a:pPr>
            <a:r>
              <a:rPr lang="en-US" sz="2000" b="1" dirty="0"/>
              <a:t>	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Else if ladder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132" y="990600"/>
            <a:ext cx="8229600" cy="5105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/>
              <a:t> </a:t>
            </a:r>
            <a:r>
              <a:rPr lang="en-US" sz="1800" b="1" dirty="0">
                <a:solidFill>
                  <a:srgbClr val="0070C0"/>
                </a:solidFill>
              </a:rPr>
              <a:t>static</a:t>
            </a:r>
            <a:r>
              <a:rPr lang="en-US" sz="1800" b="1" dirty="0"/>
              <a:t> void Main(string[] args)</a:t>
            </a:r>
          </a:p>
          <a:p>
            <a:pPr>
              <a:buNone/>
            </a:pPr>
            <a:r>
              <a:rPr lang="en-US" sz="1800" b="1" dirty="0"/>
              <a:t>        {</a:t>
            </a:r>
          </a:p>
          <a:p>
            <a:pPr>
              <a:buNone/>
            </a:pPr>
            <a:r>
              <a:rPr lang="en-US" sz="1800" b="1" dirty="0"/>
              <a:t>            float per = 45;</a:t>
            </a:r>
          </a:p>
          <a:p>
            <a:pPr>
              <a:buNone/>
            </a:pPr>
            <a:r>
              <a:rPr lang="en-US" sz="1800" b="1" dirty="0"/>
              <a:t>            if (per &gt;= 66) {</a:t>
            </a:r>
          </a:p>
          <a:p>
            <a:pPr>
              <a:buNone/>
            </a:pPr>
            <a:r>
              <a:rPr lang="en-US" sz="1800" b="1" dirty="0"/>
              <a:t>                Console.WriteLine("Distinction\n");</a:t>
            </a:r>
          </a:p>
          <a:p>
            <a:pPr>
              <a:buNone/>
            </a:pPr>
            <a:r>
              <a:rPr lang="en-US" sz="1800" b="1" dirty="0"/>
              <a:t>            }else if (per &lt; 66 &amp;&amp; per &gt;= 56){</a:t>
            </a:r>
          </a:p>
          <a:p>
            <a:pPr>
              <a:buNone/>
            </a:pPr>
            <a:r>
              <a:rPr lang="en-US" sz="1800" b="1" dirty="0"/>
              <a:t>                Console.WriteLine("First Class\n");</a:t>
            </a:r>
          </a:p>
          <a:p>
            <a:pPr>
              <a:buNone/>
            </a:pPr>
            <a:r>
              <a:rPr lang="en-US" sz="1800" b="1" dirty="0"/>
              <a:t>            }else if (per &lt; 56 &amp;&amp; per &gt;= 44){</a:t>
            </a:r>
          </a:p>
          <a:p>
            <a:pPr>
              <a:buNone/>
            </a:pPr>
            <a:r>
              <a:rPr lang="en-US" sz="1800" b="1" dirty="0"/>
              <a:t>                Console.WriteLine("Second Class\n");</a:t>
            </a:r>
          </a:p>
          <a:p>
            <a:pPr>
              <a:buNone/>
            </a:pPr>
            <a:r>
              <a:rPr lang="en-US" sz="1800" b="1" dirty="0"/>
              <a:t>            }else if (per &lt; 44 &amp;&amp; per &gt;= 35){</a:t>
            </a:r>
          </a:p>
          <a:p>
            <a:pPr>
              <a:buNone/>
            </a:pPr>
            <a:r>
              <a:rPr lang="en-US" sz="1800" b="1" dirty="0"/>
              <a:t>                Console.WriteLine("Pass Class\n");</a:t>
            </a:r>
          </a:p>
          <a:p>
            <a:pPr>
              <a:buNone/>
            </a:pPr>
            <a:r>
              <a:rPr lang="en-US" sz="1800" b="1" dirty="0"/>
              <a:t>            } else {</a:t>
            </a:r>
          </a:p>
          <a:p>
            <a:pPr>
              <a:buNone/>
            </a:pPr>
            <a:r>
              <a:rPr lang="en-US" sz="1800" b="1" dirty="0"/>
              <a:t>                Console.WriteLine("Sorry Fail");</a:t>
            </a:r>
          </a:p>
          <a:p>
            <a:pPr>
              <a:buNone/>
            </a:pPr>
            <a:r>
              <a:rPr lang="en-US" sz="1800" b="1" dirty="0"/>
              <a:t>            }</a:t>
            </a:r>
          </a:p>
          <a:p>
            <a:pPr>
              <a:buNone/>
            </a:pPr>
            <a:r>
              <a:rPr lang="en-US" sz="1800" b="1" dirty="0"/>
              <a:t>       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9831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/>
              <a:t>		switch(Expression)</a:t>
            </a:r>
          </a:p>
          <a:p>
            <a:pPr>
              <a:buNone/>
            </a:pPr>
            <a:r>
              <a:rPr lang="en-US" sz="2000" dirty="0"/>
              <a:t>		{</a:t>
            </a:r>
          </a:p>
          <a:p>
            <a:pPr>
              <a:buNone/>
            </a:pPr>
            <a:r>
              <a:rPr lang="en-US" sz="2000" dirty="0"/>
              <a:t>			case const1:</a:t>
            </a:r>
          </a:p>
          <a:p>
            <a:pPr>
              <a:buNone/>
            </a:pPr>
            <a:r>
              <a:rPr lang="en-US" sz="2000" dirty="0"/>
              <a:t>				stmts1;</a:t>
            </a:r>
          </a:p>
          <a:p>
            <a:pPr>
              <a:buNone/>
            </a:pPr>
            <a:r>
              <a:rPr lang="en-US" sz="2000" dirty="0"/>
              <a:t>			break;</a:t>
            </a:r>
          </a:p>
          <a:p>
            <a:pPr>
              <a:buNone/>
            </a:pPr>
            <a:r>
              <a:rPr lang="en-US" sz="2000" dirty="0"/>
              <a:t>			case const2:</a:t>
            </a:r>
          </a:p>
          <a:p>
            <a:pPr>
              <a:buNone/>
            </a:pPr>
            <a:r>
              <a:rPr lang="en-US" sz="2000" dirty="0"/>
              <a:t>				stmts2;</a:t>
            </a:r>
          </a:p>
          <a:p>
            <a:pPr>
              <a:buNone/>
            </a:pPr>
            <a:r>
              <a:rPr lang="en-US" sz="2000" dirty="0"/>
              <a:t>			break;</a:t>
            </a:r>
          </a:p>
          <a:p>
            <a:pPr>
              <a:buNone/>
            </a:pPr>
            <a:r>
              <a:rPr lang="en-US" sz="2000" dirty="0"/>
              <a:t>			.</a:t>
            </a:r>
          </a:p>
          <a:p>
            <a:pPr>
              <a:buNone/>
            </a:pPr>
            <a:r>
              <a:rPr lang="en-US" sz="2000" dirty="0"/>
              <a:t>			.</a:t>
            </a:r>
          </a:p>
          <a:p>
            <a:pPr>
              <a:buNone/>
            </a:pPr>
            <a:r>
              <a:rPr lang="en-US" sz="2000" dirty="0"/>
              <a:t>			default : </a:t>
            </a:r>
          </a:p>
          <a:p>
            <a:pPr>
              <a:buNone/>
            </a:pPr>
            <a:r>
              <a:rPr lang="en-US" sz="2000" dirty="0"/>
              <a:t>				stmts;</a:t>
            </a:r>
          </a:p>
          <a:p>
            <a:pPr>
              <a:buNone/>
            </a:pPr>
            <a:r>
              <a:rPr lang="en-US" sz="2000" dirty="0"/>
              <a:t>			break;</a:t>
            </a:r>
          </a:p>
          <a:p>
            <a:pPr>
              <a:buNone/>
            </a:pPr>
            <a:r>
              <a:rPr lang="en-US" sz="2000" dirty="0"/>
              <a:t>		}</a:t>
            </a:r>
          </a:p>
          <a:p>
            <a:pPr>
              <a:buNone/>
            </a:pPr>
            <a:r>
              <a:rPr lang="en-US" sz="2000" dirty="0"/>
              <a:t>	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1066800"/>
            <a:ext cx="4724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switch is also called as selection statement,it is used to execute the stmtswhich we required.</a:t>
            </a:r>
          </a:p>
          <a:p>
            <a:pPr>
              <a:buNone/>
            </a:pPr>
            <a:r>
              <a:rPr lang="en-US" dirty="0"/>
              <a:t>By choosing the choice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3600" dirty="0"/>
              <a:t>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4237"/>
            <a:ext cx="8229600" cy="54403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static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void</a:t>
            </a:r>
            <a:r>
              <a:rPr lang="en-US" sz="2400" b="1" dirty="0"/>
              <a:t> Main(string[] args)</a:t>
            </a:r>
          </a:p>
          <a:p>
            <a:pPr>
              <a:buNone/>
            </a:pPr>
            <a:r>
              <a:rPr lang="en-US" sz="2400" b="1" dirty="0"/>
              <a:t>        {</a:t>
            </a:r>
          </a:p>
          <a:p>
            <a:pPr>
              <a:buNone/>
            </a:pPr>
            <a:r>
              <a:rPr lang="en-US" sz="2400" b="1" dirty="0"/>
              <a:t>            int a = 5;   int b = 2;   int choice = 3;</a:t>
            </a:r>
          </a:p>
          <a:p>
            <a:pPr>
              <a:buNone/>
            </a:pPr>
            <a:r>
              <a:rPr lang="en-US" sz="2400" b="1" dirty="0"/>
              <a:t>            switch (choice)</a:t>
            </a:r>
          </a:p>
          <a:p>
            <a:pPr>
              <a:buNone/>
            </a:pPr>
            <a:r>
              <a:rPr lang="en-US" sz="2400" b="1" dirty="0"/>
              <a:t>            {</a:t>
            </a:r>
          </a:p>
          <a:p>
            <a:pPr>
              <a:buNone/>
            </a:pPr>
            <a:r>
              <a:rPr lang="en-US" sz="2400" b="1" dirty="0"/>
              <a:t>      case 1:Console.WriteLine("Sum is :{0}",a+b);     break;</a:t>
            </a:r>
          </a:p>
          <a:p>
            <a:pPr>
              <a:buNone/>
            </a:pPr>
            <a:r>
              <a:rPr lang="en-US" sz="2400" b="1" dirty="0"/>
              <a:t>      case 2:Console.WriteLine("Sub is :{0}",a-b);        break;</a:t>
            </a:r>
          </a:p>
          <a:p>
            <a:pPr>
              <a:buNone/>
            </a:pPr>
            <a:r>
              <a:rPr lang="en-US" sz="2400" b="1" dirty="0"/>
              <a:t>      case 3:Console.WriteLine("Mul is :{0}",a*b);       break;</a:t>
            </a:r>
          </a:p>
          <a:p>
            <a:pPr>
              <a:buNone/>
            </a:pPr>
            <a:r>
              <a:rPr lang="en-US" sz="2400" b="1" dirty="0"/>
              <a:t>      case 4:Console.WriteLine("Quo is :{0}",a/b);       break;</a:t>
            </a:r>
          </a:p>
          <a:p>
            <a:pPr>
              <a:buNone/>
            </a:pPr>
            <a:r>
              <a:rPr lang="en-US" sz="2400" b="1" dirty="0"/>
              <a:t>      case 5: Console.WriteLine("Rem is :{0}",a%b);    break;</a:t>
            </a:r>
          </a:p>
          <a:p>
            <a:pPr>
              <a:buNone/>
            </a:pPr>
            <a:r>
              <a:rPr lang="en-US" sz="2400" b="1" dirty="0"/>
              <a:t>            }</a:t>
            </a:r>
          </a:p>
          <a:p>
            <a:pPr>
              <a:buNone/>
            </a:pPr>
            <a:r>
              <a:rPr lang="en-US" sz="2400" b="1" dirty="0"/>
              <a:t>        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3600" dirty="0"/>
              <a:t>Jumping stmt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/>
              <a:t>	This statement can be used to move the compiler in the program during the execution</a:t>
            </a:r>
          </a:p>
          <a:p>
            <a:pPr>
              <a:buNone/>
            </a:pPr>
            <a:r>
              <a:rPr lang="en-US" sz="2400" dirty="0"/>
              <a:t>	occrding to our requirement.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goto  label;</a:t>
            </a:r>
          </a:p>
          <a:p>
            <a:pPr>
              <a:buNone/>
            </a:pPr>
            <a:r>
              <a:rPr lang="en-US" sz="2400" dirty="0"/>
              <a:t>		stmts1;</a:t>
            </a:r>
          </a:p>
          <a:p>
            <a:pPr>
              <a:buNone/>
            </a:pPr>
            <a:r>
              <a:rPr lang="en-US" sz="2400" dirty="0"/>
              <a:t>	label:</a:t>
            </a:r>
          </a:p>
          <a:p>
            <a:pPr>
              <a:buNone/>
            </a:pPr>
            <a:r>
              <a:rPr lang="en-US" sz="2400" dirty="0"/>
              <a:t>	stmts2;</a:t>
            </a:r>
          </a:p>
          <a:p>
            <a:pPr>
              <a:buNone/>
            </a:pPr>
            <a:r>
              <a:rPr lang="en-US" sz="2400" dirty="0"/>
              <a:t>		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3600" dirty="0"/>
              <a:t>Jumping stmt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>
                <a:solidFill>
                  <a:srgbClr val="0070C0"/>
                </a:solidFill>
              </a:rPr>
              <a:t>static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void</a:t>
            </a:r>
            <a:r>
              <a:rPr lang="en-US" sz="2000" dirty="0"/>
              <a:t> Main(string[] args)</a:t>
            </a:r>
          </a:p>
          <a:p>
            <a:pPr>
              <a:buNone/>
            </a:pPr>
            <a:r>
              <a:rPr lang="en-US" sz="2000" dirty="0"/>
              <a:t>        {</a:t>
            </a:r>
          </a:p>
          <a:p>
            <a:pPr>
              <a:buNone/>
            </a:pPr>
            <a:r>
              <a:rPr lang="en-US" sz="2000" dirty="0"/>
              <a:t>            Read:</a:t>
            </a:r>
          </a:p>
          <a:p>
            <a:pPr>
              <a:buNone/>
            </a:pPr>
            <a:r>
              <a:rPr lang="en-US" sz="2000" dirty="0"/>
              <a:t>            int n = 5;</a:t>
            </a:r>
          </a:p>
          <a:p>
            <a:pPr>
              <a:buNone/>
            </a:pPr>
            <a:r>
              <a:rPr lang="en-US" sz="2000" dirty="0"/>
              <a:t>            if (n % 2 == 0)</a:t>
            </a:r>
          </a:p>
          <a:p>
            <a:pPr>
              <a:buNone/>
            </a:pPr>
            <a:r>
              <a:rPr lang="en-US" sz="2000" dirty="0"/>
              <a:t>            {</a:t>
            </a:r>
          </a:p>
          <a:p>
            <a:pPr>
              <a:buNone/>
            </a:pPr>
            <a:r>
              <a:rPr lang="en-US" sz="2000" dirty="0"/>
              <a:t>                goto Read;</a:t>
            </a:r>
          </a:p>
          <a:p>
            <a:pPr>
              <a:buNone/>
            </a:pPr>
            <a:r>
              <a:rPr lang="en-US" sz="2000" dirty="0"/>
              <a:t>            }</a:t>
            </a:r>
          </a:p>
          <a:p>
            <a:pPr>
              <a:buNone/>
            </a:pPr>
            <a:r>
              <a:rPr lang="en-US" sz="2000" dirty="0"/>
              <a:t>            else</a:t>
            </a:r>
          </a:p>
          <a:p>
            <a:pPr>
              <a:buNone/>
            </a:pPr>
            <a:r>
              <a:rPr lang="en-US" sz="2000" dirty="0"/>
              <a:t>	        {</a:t>
            </a:r>
          </a:p>
          <a:p>
            <a:pPr>
              <a:buNone/>
            </a:pPr>
            <a:r>
              <a:rPr lang="en-US" sz="2000" dirty="0"/>
              <a:t>                Console.WriteLine("n = {0}", n); </a:t>
            </a:r>
          </a:p>
          <a:p>
            <a:pPr>
              <a:buNone/>
            </a:pPr>
            <a:r>
              <a:rPr lang="en-US" sz="2000" dirty="0"/>
              <a:t>             }</a:t>
            </a:r>
          </a:p>
          <a:p>
            <a:pPr>
              <a:buNone/>
            </a:pPr>
            <a:r>
              <a:rPr lang="en-US" sz="2000" dirty="0"/>
              <a:t>       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8100">
          <a:solidFill>
            <a:srgbClr val="FF0000"/>
          </a:solidFill>
          <a:prstDash val="dash"/>
          <a:round/>
          <a:headEnd/>
          <a:tailEnd/>
        </a:ln>
        <a:effectLst>
          <a:glow rad="101600">
            <a:schemeClr val="accent3">
              <a:satMod val="175000"/>
              <a:alpha val="40000"/>
            </a:schemeClr>
          </a:glow>
        </a:effectLst>
      </a:spPr>
      <a:bodyPr wrap="none" anchor="ctr"/>
      <a:lstStyle>
        <a:defPPr>
          <a:defRPr dirty="0"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956</Words>
  <Application>Microsoft Office PowerPoint</Application>
  <PresentationFormat>On-screen Show (4:3)</PresentationFormat>
  <Paragraphs>187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3_Office Theme</vt:lpstr>
      <vt:lpstr>Conditional statements</vt:lpstr>
      <vt:lpstr>Decision Making Statements</vt:lpstr>
      <vt:lpstr>simple if</vt:lpstr>
      <vt:lpstr>simple if</vt:lpstr>
      <vt:lpstr>simple if</vt:lpstr>
      <vt:lpstr>If –else </vt:lpstr>
      <vt:lpstr>If –else </vt:lpstr>
      <vt:lpstr>If – else </vt:lpstr>
      <vt:lpstr>Nested if</vt:lpstr>
      <vt:lpstr>Nested if</vt:lpstr>
      <vt:lpstr>Else if ladder </vt:lpstr>
      <vt:lpstr>Else if ladder </vt:lpstr>
      <vt:lpstr>switch</vt:lpstr>
      <vt:lpstr>switch</vt:lpstr>
      <vt:lpstr>Jumping stmt</vt:lpstr>
      <vt:lpstr>Jumping stmt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statements</dc:title>
  <dc:creator>Arunkumar</dc:creator>
  <cp:lastModifiedBy>arunkumar allam</cp:lastModifiedBy>
  <cp:revision>5</cp:revision>
  <dcterms:created xsi:type="dcterms:W3CDTF">2006-08-16T00:00:00Z</dcterms:created>
  <dcterms:modified xsi:type="dcterms:W3CDTF">2025-11-06T03:38:46Z</dcterms:modified>
</cp:coreProperties>
</file>